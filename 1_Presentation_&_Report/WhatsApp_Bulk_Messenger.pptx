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77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75E5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1097280"/>
            <a:ext cx="3840480" cy="3840480"/>
          </a:xfrm>
          <a:prstGeom prst="ellipse">
            <a:avLst/>
          </a:prstGeom>
          <a:solidFill>
            <a:srgbClr val="128C7E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914400" cy="91440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5" name="Image 0" descr="icons/whatsapp_0B14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11521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9456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Bulk Messenger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bulk messaging on </a:t>
            </a:r>
            <a:r>
              <a:rPr lang="en-US" sz="18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</a:t>
            </a: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</a:t>
            </a:r>
            <a:r>
              <a:rPr lang="en-US" sz="18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</a:t>
            </a: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saved contacts required.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5943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Flask + Selenium automation tool for personalized outreach at scale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5E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With Sending Bulk WhatsApp Messages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5" name="Image 0" descr="icons/mone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30520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Are Paid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3108960"/>
            <a:ext cx="4617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bulk WhatsApp senders on the market are subscription-based SaaS products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scale with contact list size or message volume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businesses, </a:t>
            </a:r>
            <a:r>
              <a:rPr lang="en-US" sz="1400" dirty="0" smtClean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</a:t>
            </a: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NGOs are priced out of simple outreach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2103120"/>
            <a:ext cx="777240" cy="77724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0" name="Image 1" descr="icons/userslas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762" y="230520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21488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Broadcast Falls Short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583680" y="3108960"/>
            <a:ext cx="4617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Broadcast Lists only deliver a message if the recipient has saved your number as a contact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outreach to new customers or leads is effectively impossible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must manually ask every recipient to save their number first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Bulk Messenger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5E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self-hosted web app that automates personalized WhatsApp Web sessions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297680"/>
          </a:xfrm>
          <a:prstGeom prst="roundRect">
            <a:avLst>
              <a:gd name="adj" fmla="val 2553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works, in short: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514600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Excel sheet with recipient phone numbers and names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message template with a {name} placeholder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drives a real browser session on WhatsApp Web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contact gets a personalized message sent automatically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console streams progress and delivery status in real time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640080" cy="640080"/>
          </a:xfrm>
          <a:prstGeom prst="ellipse">
            <a:avLst/>
          </a:prstGeom>
          <a:solidFill>
            <a:srgbClr val="128C7E"/>
          </a:solidFill>
          <a:ln/>
        </p:spPr>
      </p:sp>
      <p:pic>
        <p:nvPicPr>
          <p:cNvPr id="8" name="Image 0" descr="icons/uploa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61" y="199522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0" y="18288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contacts (.xlsx)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12280" y="2514600"/>
            <a:ext cx="0" cy="594360"/>
          </a:xfrm>
          <a:prstGeom prst="line">
            <a:avLst/>
          </a:prstGeom>
          <a:noFill/>
          <a:ln w="25400">
            <a:solidFill>
              <a:srgbClr val="C7D0D6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6492240" y="3108960"/>
            <a:ext cx="640080" cy="64008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2" name="Image 1" descr="icons/comment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32753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31089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template with {name}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812280" y="3794760"/>
            <a:ext cx="0" cy="594360"/>
          </a:xfrm>
          <a:prstGeom prst="line">
            <a:avLst/>
          </a:prstGeom>
          <a:noFill/>
          <a:ln w="25400">
            <a:solidFill>
              <a:srgbClr val="C7D0D6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6492240" y="4389120"/>
            <a:ext cx="640080" cy="640080"/>
          </a:xfrm>
          <a:prstGeom prst="ellipse">
            <a:avLst/>
          </a:prstGeom>
          <a:solidFill>
            <a:srgbClr val="128C7E"/>
          </a:solidFill>
          <a:ln/>
        </p:spPr>
      </p:sp>
      <p:pic>
        <p:nvPicPr>
          <p:cNvPr id="16" name="Image 2" descr="icons/robo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661" y="45555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15200" y="438912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drives WhatsApp Web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812280" y="5074920"/>
            <a:ext cx="0" cy="594360"/>
          </a:xfrm>
          <a:prstGeom prst="line">
            <a:avLst/>
          </a:prstGeom>
          <a:noFill/>
          <a:ln w="25400">
            <a:solidFill>
              <a:srgbClr val="C7D0D6"/>
            </a:solidFill>
            <a:prstDash val="dash"/>
          </a:ln>
        </p:spPr>
      </p:sp>
      <p:sp>
        <p:nvSpPr>
          <p:cNvPr id="19" name="Shape 14"/>
          <p:cNvSpPr/>
          <p:nvPr/>
        </p:nvSpPr>
        <p:spPr>
          <a:xfrm>
            <a:off x="6492240" y="5669280"/>
            <a:ext cx="640080" cy="64008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20" name="Image 3" descr="icons/che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661" y="58357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56692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sent + logged live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Bulk Messenger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5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371600"/>
            <a:ext cx="4572000" cy="4572000"/>
          </a:xfrm>
          <a:prstGeom prst="ellipse">
            <a:avLst/>
          </a:prstGeom>
          <a:solidFill>
            <a:srgbClr val="128C7E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</a:t>
            </a:r>
            <a:r>
              <a:rPr lang="en-US" sz="1600" b="1" dirty="0" smtClean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 Free &amp; Self-Hosted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05840" cy="100584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6" name="Image 0" descr="icons/money_075E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158" y="2364638"/>
            <a:ext cx="482803" cy="482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240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subscriptions, no per-message fees, no hidden tiers.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5394960" cy="2834640"/>
          </a:xfrm>
          <a:prstGeom prst="roundRect">
            <a:avLst>
              <a:gd name="adj" fmla="val 3871"/>
            </a:avLst>
          </a:prstGeom>
          <a:solidFill>
            <a:srgbClr val="0E2F2B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429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Broadcast SaaS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39776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plans, message caps,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pay-per-contact pricing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17920" y="3200400"/>
            <a:ext cx="5394960" cy="2834640"/>
          </a:xfrm>
          <a:prstGeom prst="roundRect">
            <a:avLst>
              <a:gd name="adj" fmla="val 3871"/>
            </a:avLst>
          </a:prstGeom>
          <a:solidFill>
            <a:srgbClr val="0A4740"/>
          </a:solidFill>
          <a:ln w="19050">
            <a:solidFill>
              <a:srgbClr val="25D36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37960" y="34290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Bulk Messenger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537960" y="397764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your own machine </a:t>
            </a:r>
            <a:endParaRPr lang="en-US" sz="14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recurring cost, ever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Bulk Messenger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</a:t>
            </a:r>
            <a:r>
              <a:rPr lang="en-US" sz="1600" b="1" dirty="0" smtClean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>
                <a:solidFill>
                  <a:srgbClr val="12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5E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Recipients Don't Need to Save Your Number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423160"/>
            <a:ext cx="731520" cy="7315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6" name="Image 0" descr="icons/warning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26133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468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WhatsApp Broadcast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only arrives if the recipient has YOUR number saved as a contact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the broadcast message silently fails to deliver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Unworkable for cold leads, new </a:t>
            </a:r>
            <a:r>
              <a:rPr lang="en-US" sz="1400" dirty="0" smtClean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or </a:t>
            </a: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announcements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210312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423160"/>
            <a:ext cx="731520" cy="73152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1" name="Image 1" descr="icons/che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3875" y="26133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43800" y="24688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Bulk Messenger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83680" y="3383280"/>
            <a:ext cx="46634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each chat directly via WhatsApp's own wa.me / send?phone= link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regardless of whether the recipient has saved your number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first-time outreach, </a:t>
            </a:r>
            <a:r>
              <a:rPr lang="en-US" sz="1400" dirty="0" smtClean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and </a:t>
            </a: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contact lists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Bulk Messenger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5E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 from contact list to delivered message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</p:sp>
      <p:pic>
        <p:nvPicPr>
          <p:cNvPr id="5" name="Image 0" descr="icons/exce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86" y="2650846"/>
            <a:ext cx="504749" cy="50474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" y="3566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Excel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" y="408736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 smtClean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</a:t>
            </a: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name columns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764792" y="2903220"/>
            <a:ext cx="1042416" cy="0"/>
          </a:xfrm>
          <a:prstGeom prst="line">
            <a:avLst/>
          </a:prstGeom>
          <a:noFill/>
          <a:ln w="31750">
            <a:solidFill>
              <a:srgbClr val="C7D0D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80360" y="2377440"/>
            <a:ext cx="1051560" cy="105156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0" name="Image 1" descr="icons/comment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766" y="2650846"/>
            <a:ext cx="504749" cy="50474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77440" y="3566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Template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377440" y="408736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{name} auto-personalized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005072" y="2903220"/>
            <a:ext cx="1042416" cy="0"/>
          </a:xfrm>
          <a:prstGeom prst="line">
            <a:avLst/>
          </a:prstGeom>
          <a:noFill/>
          <a:ln w="31750">
            <a:solidFill>
              <a:srgbClr val="C7D0D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20640" y="237744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</p:sp>
      <p:pic>
        <p:nvPicPr>
          <p:cNvPr id="15" name="Image 2" descr="icons/robo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046" y="2650846"/>
            <a:ext cx="504749" cy="50474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17720" y="3566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Browser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617720" y="408736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Edge WebDriver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45352" y="2903220"/>
            <a:ext cx="1042416" cy="0"/>
          </a:xfrm>
          <a:prstGeom prst="line">
            <a:avLst/>
          </a:prstGeom>
          <a:noFill/>
          <a:ln w="31750">
            <a:solidFill>
              <a:srgbClr val="C7D0D6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60920" y="2377440"/>
            <a:ext cx="1051560" cy="105156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20" name="Image 3" descr="icons/whatsapp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4326" y="2650846"/>
            <a:ext cx="504749" cy="50474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3566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via WhatsApp Web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6858000" y="408736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wa.me/send?phone=...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485632" y="2903220"/>
            <a:ext cx="1042416" cy="0"/>
          </a:xfrm>
          <a:prstGeom prst="line">
            <a:avLst/>
          </a:prstGeom>
          <a:noFill/>
          <a:ln w="31750">
            <a:solidFill>
              <a:srgbClr val="C7D0D6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601200" y="2377440"/>
            <a:ext cx="1051560" cy="1051560"/>
          </a:xfrm>
          <a:prstGeom prst="ellipse">
            <a:avLst/>
          </a:prstGeom>
          <a:solidFill>
            <a:srgbClr val="128C7E"/>
          </a:solidFill>
          <a:ln/>
        </p:spPr>
      </p:sp>
      <p:pic>
        <p:nvPicPr>
          <p:cNvPr id="25" name="Image 4" descr="icons/check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4606" y="2650846"/>
            <a:ext cx="504749" cy="504749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98280" y="356616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Log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098280" y="4087368"/>
            <a:ext cx="2057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via server-sent events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7143"/>
            </a:avLst>
          </a:prstGeom>
          <a:solidFill>
            <a:srgbClr val="F4F6F9"/>
          </a:solidFill>
          <a:ln/>
        </p:spPr>
      </p:sp>
      <p:sp>
        <p:nvSpPr>
          <p:cNvPr id="29" name="Text 22"/>
          <p:cNvSpPr/>
          <p:nvPr/>
        </p:nvSpPr>
        <p:spPr>
          <a:xfrm>
            <a:off x="914400" y="5074920"/>
            <a:ext cx="10424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never uses the official WhatsApp Business API </a:t>
            </a:r>
            <a:r>
              <a:rPr lang="en-US" sz="1350" i="1" dirty="0" smtClean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i="1" dirty="0">
                <a:solidFill>
                  <a:srgbClr val="075E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drives an actual, logged-in browser session, the same way you would send messages manually, just automated and personalized at scale.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Bulk Messenger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5E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128C7E"/>
          </a:solidFill>
          <a:ln/>
        </p:spPr>
      </p:sp>
      <p:pic>
        <p:nvPicPr>
          <p:cNvPr id="5" name="Image 0" descr="icons/excel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18004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6184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Excel-Based Contact Lists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Simply provide a spreadsheet with phone and name columns </a:t>
            </a:r>
            <a:r>
              <a:rPr lang="en-US" sz="1150" dirty="0" smtClean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CRM or API setup needed.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0" y="1645920"/>
            <a:ext cx="594360" cy="59436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0" name="Image 1" descr="icons/comments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6534" y="18004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6184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Personalization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572000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{name} tag anywhere in your message; each recipient gets it filled in automatically.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366760" y="1645920"/>
            <a:ext cx="594360" cy="594360"/>
          </a:xfrm>
          <a:prstGeom prst="ellipse">
            <a:avLst/>
          </a:prstGeom>
          <a:solidFill>
            <a:srgbClr val="128C7E"/>
          </a:solidFill>
          <a:ln/>
        </p:spPr>
      </p:sp>
      <p:pic>
        <p:nvPicPr>
          <p:cNvPr id="15" name="Image 2" descr="icons/bolt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1294" y="180045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8280" y="161848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Console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366760" y="237744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streaming log shows every message opened, typed, </a:t>
            </a:r>
            <a:r>
              <a:rPr lang="en-US" sz="1150" dirty="0" smtClean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</a:t>
            </a: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failed as it happens.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9776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206240"/>
            <a:ext cx="594360" cy="59436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20" name="Image 3" descr="icons/robo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4" y="43607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1788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Automation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77240" y="49377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Selenium + Edge WebDriver </a:t>
            </a:r>
            <a:r>
              <a:rPr lang="en-US" sz="1150" dirty="0" smtClean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</a:t>
            </a: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your own logged-in WhatsApp Web session.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343400" y="39776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0" y="4206240"/>
            <a:ext cx="594360" cy="594360"/>
          </a:xfrm>
          <a:prstGeom prst="ellipse">
            <a:avLst/>
          </a:prstGeom>
          <a:solidFill>
            <a:srgbClr val="128C7E"/>
          </a:solidFill>
          <a:ln/>
        </p:spPr>
      </p:sp>
      <p:pic>
        <p:nvPicPr>
          <p:cNvPr id="25" name="Image 4" descr="icons/money_FFFFF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6534" y="43607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03520" y="41788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572000" y="49377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self-hosted Flask app </a:t>
            </a:r>
            <a:r>
              <a:rPr lang="en-US" sz="1150" dirty="0" smtClean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subscriptions, licensing </a:t>
            </a:r>
            <a:r>
              <a:rPr lang="en-US" sz="1150" dirty="0" smtClean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 </a:t>
            </a: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usage limits.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8138160" y="39776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66760" y="4206240"/>
            <a:ext cx="594360" cy="59436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30" name="Image 5" descr="icons/userslash_FFFFF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1294" y="436077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98280" y="41788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Saved-Contact Requirement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8366760" y="493776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reach recipients directly, even if they've never saved your number.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Bulk Messenger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5E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28C7E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the Hood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stack </a:t>
            </a:r>
            <a:r>
              <a:rPr lang="en-US" sz="14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run, easy to extend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77240" cy="77724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6" name="Image 0" descr="icons/cogs_075E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22" y="2122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80560" y="192024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serving the UI and campaign API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971800"/>
            <a:ext cx="777240" cy="77724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0" name="Image 1" descr="icons/excel_075E5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" y="3173882"/>
            <a:ext cx="373075" cy="37307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00200" y="2971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480560" y="297180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validates the uploaded Excel contact list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777240" cy="77724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4" name="Image 2" descr="icons/robot_075E5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722" y="4225442"/>
            <a:ext cx="373075" cy="3730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600200" y="40233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+ Edge WebDriver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480560" y="402336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a real WhatsApp Web browser session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5074920"/>
            <a:ext cx="777240" cy="77724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8" name="Image 3" descr="icons/bolt_075E5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" y="5277002"/>
            <a:ext cx="373075" cy="373075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00200" y="507492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Server-Sent Events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4480560" y="507492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live campaign logs to the browser console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Bulk Messenger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75E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Use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94560"/>
            <a:ext cx="822960" cy="822960"/>
          </a:xfrm>
          <a:prstGeom prst="ellipse">
            <a:avLst/>
          </a:prstGeom>
          <a:solidFill>
            <a:srgbClr val="128C7E"/>
          </a:solidFill>
          <a:ln/>
        </p:spPr>
      </p:sp>
      <p:pic>
        <p:nvPicPr>
          <p:cNvPr id="5" name="Image 0" descr="icons/bullhor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930" y="240853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783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920240" y="23317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promotions and offers to customer lists without paying for a broadcast platform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17920" y="14630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2194560"/>
            <a:ext cx="822960" cy="82296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10" name="Image 1" descr="icons/addressboo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6210" y="240853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17830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Organizers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589520" y="233172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large guest lists individually and </a:t>
            </a:r>
            <a:r>
              <a:rPr lang="en-US" sz="1250" dirty="0" smtClean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personally </a:t>
            </a: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names auto-filled in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40233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754880"/>
            <a:ext cx="822960" cy="822960"/>
          </a:xfrm>
          <a:prstGeom prst="ellipse">
            <a:avLst/>
          </a:prstGeom>
          <a:solidFill>
            <a:srgbClr val="128C7E"/>
          </a:solidFill>
          <a:ln/>
        </p:spPr>
      </p:sp>
      <p:pic>
        <p:nvPicPr>
          <p:cNvPr id="15" name="Image 2" descr="icons/comments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30" y="496885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Educators &amp; Coaches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920240" y="48920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students or trainees with reminders, </a:t>
            </a:r>
            <a:r>
              <a:rPr lang="en-US" sz="1250" dirty="0" smtClean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</a:t>
            </a: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personalized notes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17920" y="40233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/>
        </p:spPr>
      </p:sp>
      <p:sp>
        <p:nvSpPr>
          <p:cNvPr id="19" name="Shape 14"/>
          <p:cNvSpPr/>
          <p:nvPr/>
        </p:nvSpPr>
        <p:spPr>
          <a:xfrm>
            <a:off x="6492240" y="4754880"/>
            <a:ext cx="822960" cy="82296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20" name="Image 3" descr="icons/lock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6210" y="4968850"/>
            <a:ext cx="395021" cy="39502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589520" y="43434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Groups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7589520" y="489204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Circulate announcements to members without collecting their consent to save a number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Bulk Messenger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75E54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128C7E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685800"/>
            <a:ext cx="914400" cy="914400"/>
          </a:xfrm>
          <a:prstGeom prst="ellipse">
            <a:avLst/>
          </a:prstGeom>
          <a:solidFill>
            <a:srgbClr val="25D366"/>
          </a:solidFill>
          <a:ln/>
        </p:spPr>
      </p:sp>
      <p:pic>
        <p:nvPicPr>
          <p:cNvPr id="5" name="Image 0" descr="icons/whatsapp_0B141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4" y="92354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Free. Personal. No Saved Contacts Needed.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463040" y="2743200"/>
            <a:ext cx="9235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Bulk Messenger removes the two biggest barriers to bulk outreach on </a:t>
            </a:r>
            <a:r>
              <a:rPr lang="en-US" sz="15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</a:t>
            </a:r>
            <a:endParaRPr lang="en-US" sz="15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the recipient's need to save your number </a:t>
            </a:r>
            <a:r>
              <a:rPr lang="en-US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anyone can send personalized</a:t>
            </a:r>
            <a:endParaRPr lang="en-US" sz="1500" dirty="0"/>
          </a:p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at </a:t>
            </a:r>
            <a:r>
              <a:rPr lang="en-US" sz="15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free.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1280160" y="448056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0F3E38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4480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&amp; self-hosted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749040" y="448056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0F3E38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49040" y="4480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saved contact required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448056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0F3E38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4480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at scale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0" y="448056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0F3E38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686800" y="448056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delivery logs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729</Words>
  <Application>Microsoft Office PowerPoint</Application>
  <PresentationFormat>Widescreen</PresentationFormat>
  <Paragraphs>124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Himanshu Ladani</cp:lastModifiedBy>
  <cp:revision>2</cp:revision>
  <dcterms:created xsi:type="dcterms:W3CDTF">2026-07-15T06:24:56Z</dcterms:created>
  <dcterms:modified xsi:type="dcterms:W3CDTF">2026-07-15T06:46:39Z</dcterms:modified>
</cp:coreProperties>
</file>